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8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Contatos por mês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9D6BF"/>
              </a:solidFill>
            </c:spPr>
            <c:extLst>
              <c:ext xmlns:c16="http://schemas.microsoft.com/office/drawing/2014/chart" uri="{C3380CC4-5D6E-409C-BE32-E72D297353CC}">
                <c16:uniqueId val="{00000001-598D-934A-92FC-86DFC58D8769}"/>
              </c:ext>
            </c:extLst>
          </c:dPt>
          <c:dPt>
            <c:idx val="1"/>
            <c:invertIfNegative val="1"/>
            <c:bubble3D val="0"/>
            <c:spPr>
              <a:solidFill>
                <a:srgbClr val="E9D6BF"/>
              </a:solidFill>
            </c:spPr>
            <c:extLst>
              <c:ext xmlns:c16="http://schemas.microsoft.com/office/drawing/2014/chart" uri="{C3380CC4-5D6E-409C-BE32-E72D297353CC}">
                <c16:uniqueId val="{00000003-598D-934A-92FC-86DFC58D8769}"/>
              </c:ext>
            </c:extLst>
          </c:dPt>
          <c:dPt>
            <c:idx val="2"/>
            <c:invertIfNegative val="1"/>
            <c:bubble3D val="0"/>
            <c:spPr>
              <a:solidFill>
                <a:srgbClr val="D1B592"/>
              </a:solidFill>
            </c:spPr>
            <c:extLst>
              <c:ext xmlns:c16="http://schemas.microsoft.com/office/drawing/2014/chart" uri="{C3380CC4-5D6E-409C-BE32-E72D297353CC}">
                <c16:uniqueId val="{00000005-598D-934A-92FC-86DFC58D8769}"/>
              </c:ext>
            </c:extLst>
          </c:dPt>
          <c:dPt>
            <c:idx val="3"/>
            <c:invertIfNegative val="1"/>
            <c:bubble3D val="0"/>
            <c:spPr>
              <a:solidFill>
                <a:srgbClr val="E9D6BF"/>
              </a:solidFill>
            </c:spPr>
            <c:extLst>
              <c:ext xmlns:c16="http://schemas.microsoft.com/office/drawing/2014/chart" uri="{C3380CC4-5D6E-409C-BE32-E72D297353CC}">
                <c16:uniqueId val="{00000007-598D-934A-92FC-86DFC58D8769}"/>
              </c:ext>
            </c:extLst>
          </c:dPt>
          <c:dPt>
            <c:idx val="4"/>
            <c:invertIfNegative val="1"/>
            <c:bubble3D val="0"/>
            <c:spPr>
              <a:solidFill>
                <a:srgbClr val="D1B592"/>
              </a:solidFill>
            </c:spPr>
            <c:extLst>
              <c:ext xmlns:c16="http://schemas.microsoft.com/office/drawing/2014/chart" uri="{C3380CC4-5D6E-409C-BE32-E72D297353CC}">
                <c16:uniqueId val="{00000009-598D-934A-92FC-86DFC58D8769}"/>
              </c:ext>
            </c:extLst>
          </c:dPt>
          <c:dPt>
            <c:idx val="5"/>
            <c:invertIfNegative val="1"/>
            <c:bubble3D val="0"/>
            <c:spPr>
              <a:solidFill>
                <a:srgbClr val="E9D6BF"/>
              </a:solidFill>
            </c:spPr>
            <c:extLst>
              <c:ext xmlns:c16="http://schemas.microsoft.com/office/drawing/2014/chart" uri="{C3380CC4-5D6E-409C-BE32-E72D297353CC}">
                <c16:uniqueId val="{0000000B-598D-934A-92FC-86DFC58D8769}"/>
              </c:ext>
            </c:extLst>
          </c:dPt>
          <c:dPt>
            <c:idx val="6"/>
            <c:invertIfNegative val="1"/>
            <c:bubble3D val="0"/>
            <c:spPr>
              <a:solidFill>
                <a:srgbClr val="E9D6BF"/>
              </a:solidFill>
            </c:spPr>
            <c:extLst>
              <c:ext xmlns:c16="http://schemas.microsoft.com/office/drawing/2014/chart" uri="{C3380CC4-5D6E-409C-BE32-E72D297353CC}">
                <c16:uniqueId val="{0000000D-598D-934A-92FC-86DFC58D8769}"/>
              </c:ext>
            </c:extLst>
          </c:dPt>
          <c:dPt>
            <c:idx val="7"/>
            <c:invertIfNegative val="1"/>
            <c:bubble3D val="0"/>
            <c:spPr>
              <a:solidFill>
                <a:srgbClr val="002820"/>
              </a:solidFill>
            </c:spPr>
            <c:extLst>
              <c:ext xmlns:c16="http://schemas.microsoft.com/office/drawing/2014/chart" uri="{C3380CC4-5D6E-409C-BE32-E72D297353CC}">
                <c16:uniqueId val="{0000000F-598D-934A-92FC-86DFC58D87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002820"/>
                    </a:solidFill>
                    <a:latin typeface="Calibr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Outros</c:v>
                </c:pt>
                <c:pt idx="1">
                  <c:v>Reclamação ou cancelamento</c:v>
                </c:pt>
                <c:pt idx="2">
                  <c:v>Pedido de recomendação</c:v>
                </c:pt>
                <c:pt idx="3">
                  <c:v>Impostos e documentos</c:v>
                </c:pt>
                <c:pt idx="4">
                  <c:v>Acesso e segurança</c:v>
                </c:pt>
                <c:pt idx="5">
                  <c:v>Rentabilidade e extrato</c:v>
                </c:pt>
                <c:pt idx="6">
                  <c:v>Dúvida de produto</c:v>
                </c:pt>
                <c:pt idx="7">
                  <c:v>Onde está meu dinheiro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1920</c:v>
                </c:pt>
                <c:pt idx="1">
                  <c:v>3360</c:v>
                </c:pt>
                <c:pt idx="2">
                  <c:v>3840</c:v>
                </c:pt>
                <c:pt idx="3">
                  <c:v>4320</c:v>
                </c:pt>
                <c:pt idx="4">
                  <c:v>5760</c:v>
                </c:pt>
                <c:pt idx="5">
                  <c:v>6720</c:v>
                </c:pt>
                <c:pt idx="6">
                  <c:v>9120</c:v>
                </c:pt>
                <c:pt idx="7">
                  <c:v>12960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98D-934A-92FC-86DFC58D87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1B592"/>
            </a:solidFill>
          </a:ln>
        </c:spPr>
        <c:txPr>
          <a:bodyPr/>
          <a:lstStyle/>
          <a:p>
            <a:pPr>
              <a:defRPr sz="1200">
                <a:solidFill>
                  <a:srgbClr val="002820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1440000" cy="276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0000" y="1800000"/>
            <a:ext cx="2160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1980000"/>
            <a:ext cx="11160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Calibri Light"/>
              </a:rPr>
              <a:t>Hands On: da concepção à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96000"/>
            <a:ext cx="1008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1">
                <a:solidFill>
                  <a:srgbClr val="D1B592"/>
                </a:solidFill>
                <a:latin typeface="Calibri"/>
              </a:rPr>
              <a:t>Desafio: atendimento que escala com confiança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780000"/>
            <a:ext cx="86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Uma ideia levada até produção em um dia, com a spec na frente e a IA em todas as etapas.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120000"/>
            <a:ext cx="720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D1B592"/>
                </a:solidFill>
                <a:latin typeface="Calibri"/>
              </a:rPr>
              <a:t>31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REGRAS DO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Não é competição: ninguém é ranqueado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944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48000" y="2232000"/>
            <a:ext cx="576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8000" y="2376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002820"/>
                </a:solidFill>
                <a:latin typeface="Calibri Light"/>
              </a:rPr>
              <a:t>Tudo é de vocês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880000"/>
            <a:ext cx="32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Ferramenta, licença, repositório, conta de nuvem e deploy.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8000" y="1944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464000" y="2232000"/>
            <a:ext cx="576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64000" y="2376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002820"/>
                </a:solidFill>
                <a:latin typeface="Calibri Light"/>
              </a:rPr>
              <a:t>Nada interno entra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4000" y="2880000"/>
            <a:ext cx="32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Nenhum repositório, agente, skill ou dado da Avenue.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4000" y="1944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8280000" y="2232000"/>
            <a:ext cx="576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0000" y="2376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002820"/>
                </a:solidFill>
                <a:latin typeface="Calibri Light"/>
              </a:rPr>
              <a:t>Só dados sintéticos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2880000"/>
            <a:ext cx="32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Nenhum dado real de pessoa, nem o seu.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888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48000" y="4176000"/>
            <a:ext cx="576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8000" y="4320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002820"/>
                </a:solidFill>
                <a:latin typeface="Calibri Light"/>
              </a:rPr>
              <a:t>Sem segredos no código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4824000"/>
            <a:ext cx="32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Chave ou token vazou? Gire na hora.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8000" y="3888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4464000" y="4176000"/>
            <a:ext cx="576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64000" y="4320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002820"/>
                </a:solidFill>
                <a:latin typeface="Calibri Light"/>
              </a:rPr>
              <a:t>Nenhuma marca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4000" y="4824000"/>
            <a:ext cx="324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O produto é da Caqui Invest, que é fictícia.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3888000"/>
            <a:ext cx="3636000" cy="1728000"/>
          </a:xfrm>
          <a:prstGeom prst="roundRect">
            <a:avLst>
              <a:gd name="adj" fmla="val 8000"/>
            </a:avLst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0000" y="4139999"/>
            <a:ext cx="324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0">
                <a:solidFill>
                  <a:srgbClr val="D1B592"/>
                </a:solidFill>
                <a:latin typeface="Calibri Light"/>
              </a:rPr>
              <a:t>O objetivo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000" y="4572000"/>
            <a:ext cx="3240000" cy="1007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Sair com um produto publicado e com o que aprenderam sobre dirigir e verificar IA num problema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540000" y="3060000"/>
            <a:ext cx="6480000" cy="0"/>
          </a:xfrm>
          <a:prstGeom prst="line">
            <a:avLst/>
          </a:prstGeom>
          <a:ln w="254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3240000"/>
            <a:ext cx="10080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O case: Caqui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428000"/>
            <a:ext cx="1008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1">
                <a:solidFill>
                  <a:srgbClr val="D1B592"/>
                </a:solidFill>
                <a:latin typeface="Calibri"/>
              </a:rPr>
              <a:t>Empresa, pessoas e números fictícios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1152000" cy="22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CAQUI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5 vezes mais clientes, só 60% mais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655999"/>
            <a:ext cx="11160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0" i="0" dirty="0" err="1">
                <a:solidFill>
                  <a:srgbClr val="002820"/>
                </a:solidFill>
                <a:latin typeface="Calibri"/>
              </a:rPr>
              <a:t>Corretora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digital com 6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anos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de mercado: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renda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fixa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,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fundos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e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ações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. Uma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parceria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com um grande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varejista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traz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clientes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que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vão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investir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pela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primeira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vez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,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vindos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 da </a:t>
            </a:r>
            <a:r>
              <a:rPr sz="1700" b="0" i="0" dirty="0" err="1">
                <a:solidFill>
                  <a:srgbClr val="002820"/>
                </a:solidFill>
                <a:latin typeface="Calibri"/>
              </a:rPr>
              <a:t>poupança</a:t>
            </a:r>
            <a:r>
              <a:rPr sz="1700" b="0" i="0" dirty="0">
                <a:solidFill>
                  <a:srgbClr val="002820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520000"/>
            <a:ext cx="2700000" cy="15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000" y="2700000"/>
            <a:ext cx="2448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400 mil → 2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3384000"/>
            <a:ext cx="2376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clientes em 18 meses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4000" y="2520000"/>
            <a:ext cx="2700000" cy="15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000" y="2700000"/>
            <a:ext cx="2448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62 →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000" y="3384000"/>
            <a:ext cx="2376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atendentes, no máximo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000" y="2520000"/>
            <a:ext cx="2700000" cy="15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000" y="2700000"/>
            <a:ext cx="2448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~310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3384000"/>
            <a:ext cx="2376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atendentes que a conta linear pediria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8000" y="2520000"/>
            <a:ext cx="2700000" cy="1548000"/>
          </a:xfrm>
          <a:prstGeom prst="roundRect">
            <a:avLst>
              <a:gd name="adj" fmla="val 8000"/>
            </a:avLst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98000" y="2700000"/>
            <a:ext cx="2448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36C665"/>
                </a:solidFill>
                <a:latin typeface="Calibri Light"/>
              </a:rPr>
              <a:t>2/3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114" y="3267429"/>
            <a:ext cx="2376000" cy="64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Calibri"/>
              </a:rPr>
              <a:t>da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demanda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nova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precisa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ser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evitada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ou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resolvida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sem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humano</a:t>
            </a:r>
            <a:endParaRPr sz="15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000" y="4320000"/>
            <a:ext cx="18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HOJE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48 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contatos com humano por mês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40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40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12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tempo médio de atendimento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48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48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8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fila no pico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56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90 dias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6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até um atendente novo ter autonomia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64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64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4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de resolução do chatbot atual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72000" y="4644000"/>
            <a:ext cx="17280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972000" y="4716000"/>
            <a:ext cx="180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4,3 vs. 2,1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2000" y="5184000"/>
            <a:ext cx="1764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0">
                <a:solidFill>
                  <a:srgbClr val="465F58"/>
                </a:solidFill>
                <a:latin typeface="Calibri"/>
              </a:rPr>
              <a:t>satisfação: humano vs.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5976000"/>
            <a:ext cx="111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 dirty="0" err="1">
                <a:solidFill>
                  <a:srgbClr val="002820"/>
                </a:solidFill>
                <a:latin typeface="Calibri"/>
              </a:rPr>
              <a:t>Regra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da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diretoria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: a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satisfação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não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cai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e o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humano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fica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disponível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das 8h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às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20h,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todos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os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002820"/>
                </a:solidFill>
                <a:latin typeface="Calibri"/>
              </a:rPr>
              <a:t>dias</a:t>
            </a:r>
            <a:r>
              <a:rPr sz="1400" b="0" i="1" dirty="0">
                <a:solidFill>
                  <a:srgbClr val="00282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POR QUE OS CLIENTES PROCURAM A CAQUI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Onde está meu dinheiro? É a pergunta que mais chega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32000" y="1655999"/>
          <a:ext cx="7020000" cy="45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6000" y="1728000"/>
            <a:ext cx="396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>
                <a:solidFill>
                  <a:srgbClr val="002820"/>
                </a:solidFill>
                <a:latin typeface="Calibri Light"/>
              </a:rPr>
              <a:t>48 mil contatos por 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6000" y="2340000"/>
            <a:ext cx="90000" cy="936000"/>
          </a:xfrm>
          <a:prstGeom prst="rect">
            <a:avLst/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7999" y="2304000"/>
            <a:ext cx="370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2820"/>
                </a:solidFill>
                <a:latin typeface="Calibri"/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7999" y="2628000"/>
            <a:ext cx="370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27% é sobre onde está o dinheiro, e 34% dessas pessoas voltam em 7 dias.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6000" y="3564000"/>
            <a:ext cx="90000" cy="936000"/>
          </a:xfrm>
          <a:prstGeom prst="rect">
            <a:avLst/>
          </a:prstGeom>
          <a:solidFill>
            <a:srgbClr val="D1B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27999" y="3528000"/>
            <a:ext cx="370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2820"/>
                </a:solidFill>
                <a:latin typeface="Calibri"/>
              </a:rPr>
              <a:t>Risco 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7999" y="3852000"/>
            <a:ext cx="370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Golpe em andamento e pedido de recomendação: errar aqui não é só atendimento ruim.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6000" y="4788000"/>
            <a:ext cx="90000" cy="936000"/>
          </a:xfrm>
          <a:prstGeom prst="rect">
            <a:avLst/>
          </a:prstGeom>
          <a:solidFill>
            <a:srgbClr val="D1B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7999" y="4752000"/>
            <a:ext cx="370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2820"/>
                </a:solidFill>
                <a:latin typeface="Calibri"/>
              </a:rPr>
              <a:t>Tempo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7999" y="5076000"/>
            <a:ext cx="370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Recomendação e segurança são os atendimentos mais longos: 18 e 16 minutos.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6000" y="5903999"/>
            <a:ext cx="39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1">
                <a:solidFill>
                  <a:srgbClr val="465F58"/>
                </a:solidFill>
                <a:latin typeface="Calibri"/>
              </a:rPr>
              <a:t>Volume, duração, recontato e risco por motivo estão no case e nos dados.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Quem o atendimento precisa servir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00000"/>
            <a:ext cx="2700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8000" y="2016000"/>
            <a:ext cx="648000" cy="648000"/>
          </a:xfrm>
          <a:prstGeom prst="ellipse">
            <a:avLst/>
          </a:prstGeom>
          <a:solidFill>
            <a:srgbClr val="0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" y="2016000"/>
            <a:ext cx="648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 Light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2807999"/>
            <a:ext cx="234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Dona Marta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240000"/>
            <a:ext cx="2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465F58"/>
                </a:solidFill>
                <a:latin typeface="Calibri"/>
              </a:rPr>
              <a:t>63 · APOSENTADA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600000"/>
            <a:ext cx="23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30 anos na poupança, primeiro CDB pela parceria com o varejista.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8000" y="4644000"/>
            <a:ext cx="22680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000" y="4751999"/>
            <a:ext cx="2304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002820"/>
                </a:solidFill>
                <a:latin typeface="Calibri"/>
              </a:rPr>
              <a:t>Quer certeza, a cada passo, de que o dinheiro está lá.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4000" y="1800000"/>
            <a:ext cx="2700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10000" y="2016000"/>
            <a:ext cx="648000" cy="648000"/>
          </a:xfrm>
          <a:prstGeom prst="ellipse">
            <a:avLst/>
          </a:prstGeom>
          <a:solidFill>
            <a:srgbClr val="0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0000" y="2016000"/>
            <a:ext cx="648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 Light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0000" y="2807999"/>
            <a:ext cx="234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Rafael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0000" y="3240000"/>
            <a:ext cx="2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465F58"/>
                </a:solidFill>
                <a:latin typeface="Calibri"/>
              </a:rPr>
              <a:t>27 ·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0000" y="3600000"/>
            <a:ext cx="23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Investe pelo app e tem dúvidas técnicas sobre prazo e IR.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10000" y="4644000"/>
            <a:ext cx="22680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10000" y="4751999"/>
            <a:ext cx="2304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002820"/>
                </a:solidFill>
                <a:latin typeface="Calibri"/>
              </a:rPr>
              <a:t>Quer a resposta certa em 30 segundos, sem fila.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000" y="1800000"/>
            <a:ext cx="2700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72000" y="2016000"/>
            <a:ext cx="648000" cy="648000"/>
          </a:xfrm>
          <a:prstGeom prst="ellipse">
            <a:avLst/>
          </a:prstGeom>
          <a:solidFill>
            <a:srgbClr val="00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2000" y="2016000"/>
            <a:ext cx="648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 Light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000" y="2807999"/>
            <a:ext cx="234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Camila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000" y="3240000"/>
            <a:ext cx="2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465F58"/>
                </a:solidFill>
                <a:latin typeface="Calibri"/>
              </a:rPr>
              <a:t>41 · EMPREENDEDORA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000" y="3600000"/>
            <a:ext cx="23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Recebeu uma herança e nunca investiu.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72000" y="4644000"/>
            <a:ext cx="22680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72000" y="4751999"/>
            <a:ext cx="2304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002820"/>
                </a:solidFill>
                <a:latin typeface="Calibri"/>
              </a:rPr>
              <a:t>Quer alguém de confiança que diga o que fazer. Vai pedir recomendação.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18000" y="1800000"/>
            <a:ext cx="2700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34000" y="2016000"/>
            <a:ext cx="648000" cy="648000"/>
          </a:xfrm>
          <a:prstGeom prst="ellipse">
            <a:avLst/>
          </a:prstGeom>
          <a:solidFill>
            <a:srgbClr val="D1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4000" y="2016000"/>
            <a:ext cx="648000" cy="64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0" i="0">
                <a:solidFill>
                  <a:srgbClr val="002820"/>
                </a:solidFill>
                <a:latin typeface="Calibri Light"/>
              </a:rPr>
              <a:t>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4000" y="2807999"/>
            <a:ext cx="234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0" i="0">
                <a:solidFill>
                  <a:srgbClr val="002820"/>
                </a:solidFill>
                <a:latin typeface="Calibri Light"/>
              </a:rPr>
              <a:t>Jonas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4000" y="3240000"/>
            <a:ext cx="23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465F58"/>
                </a:solidFill>
                <a:latin typeface="Calibri"/>
              </a:rPr>
              <a:t>24 · ATENDENTE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4000" y="3600000"/>
            <a:ext cx="23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0">
                <a:solidFill>
                  <a:srgbClr val="002820"/>
                </a:solidFill>
                <a:latin typeface="Calibri"/>
              </a:rPr>
              <a:t>Dois meses de casa, ainda sem autonomia.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34000" y="4644000"/>
            <a:ext cx="22680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34000" y="4751999"/>
            <a:ext cx="2304000" cy="115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002820"/>
                </a:solidFill>
                <a:latin typeface="Calibri"/>
              </a:rPr>
              <a:t>Quer responder certo sem chamar o supervisor a cada caso.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2"/>
          <p:cNvCxnSpPr/>
          <p:nvPr/>
        </p:nvCxnSpPr>
        <p:spPr>
          <a:xfrm>
            <a:off x="540000" y="3060000"/>
            <a:ext cx="6480000" cy="0"/>
          </a:xfrm>
          <a:prstGeom prst="line">
            <a:avLst/>
          </a:prstGeom>
          <a:ln w="254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3240000"/>
            <a:ext cx="10080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428000"/>
            <a:ext cx="10080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000" b="0" i="1">
                <a:solidFill>
                  <a:srgbClr val="D1B592"/>
                </a:solidFill>
                <a:latin typeface="Calibri"/>
              </a:rPr>
              <a:t>O caminho é de vocês</a:t>
            </a:r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1152000" cy="2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00" y="288000"/>
            <a:ext cx="1080000" cy="207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0000" y="1152000"/>
            <a:ext cx="2160000" cy="0"/>
          </a:xfrm>
          <a:prstGeom prst="line">
            <a:avLst/>
          </a:prstGeom>
          <a:ln w="38100">
            <a:solidFill>
              <a:srgbClr val="36C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0000" y="1368000"/>
            <a:ext cx="10800000" cy="19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Calibri Light"/>
              </a:rPr>
              <a:t>Atender 2 milhões de clientes com no máximo 100 pessoas, sem a satisfação cair e sem que a Dona Marta deixe de confiar.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600000"/>
            <a:ext cx="10080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D1B592"/>
                </a:solidFill>
                <a:latin typeface="Calibri"/>
              </a:rPr>
              <a:t>Escolham a parte desse problema que mais importa para vocês, construam a solução e publiquem até o fim do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968000"/>
            <a:ext cx="10080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Não há trilha, formato esperado nem resposta certa. O que importa é o caminho: como o grupo escolhe, especifica, constrói e verifica com 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PERGUNTAS PARA A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A spec responde a seis perguntas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72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520000"/>
            <a:ext cx="324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Qual parte do problema?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258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Que motivo, persona ou momento da jornada, e por quê.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8000" y="1872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4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4000" y="2520000"/>
            <a:ext cx="324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Qual alavanca?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4000" y="3258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Evitar o contato, resolver sem humano ou fazer o humano render mais.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4000" y="1872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0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2520000"/>
            <a:ext cx="324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Quanto isso move?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3258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Uma estimativa em números, com a conta à mostra.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924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000" y="4068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" y="4572000"/>
            <a:ext cx="324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Como a confiança aparece?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5310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O que o cliente vê para acreditar, e onde está a saída.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8000" y="3924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64000" y="4068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4000" y="4572000"/>
            <a:ext cx="3240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O que fica de fora?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4000" y="5310000"/>
            <a:ext cx="3240000" cy="46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 dirty="0">
                <a:solidFill>
                  <a:srgbClr val="002820"/>
                </a:solidFill>
                <a:latin typeface="Calibri"/>
              </a:rPr>
              <a:t>O corte de </a:t>
            </a:r>
            <a:r>
              <a:rPr sz="1400" b="0" i="0" dirty="0" err="1">
                <a:solidFill>
                  <a:srgbClr val="002820"/>
                </a:solidFill>
                <a:latin typeface="Calibri"/>
              </a:rPr>
              <a:t>escopo</a:t>
            </a:r>
            <a:r>
              <a:rPr sz="14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02820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02820"/>
                </a:solidFill>
                <a:latin typeface="Calibri"/>
              </a:rPr>
              <a:t>permite</a:t>
            </a:r>
            <a:r>
              <a:rPr sz="14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02820"/>
                </a:solidFill>
                <a:latin typeface="Calibri"/>
              </a:rPr>
              <a:t>publicar</a:t>
            </a:r>
            <a:r>
              <a:rPr sz="1400" b="0" i="0" dirty="0">
                <a:solidFill>
                  <a:srgbClr val="0028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002820"/>
                </a:solidFill>
                <a:latin typeface="Calibri"/>
              </a:rPr>
              <a:t>hoje</a:t>
            </a:r>
            <a:r>
              <a:rPr sz="1400" b="0" i="0" dirty="0">
                <a:solidFill>
                  <a:srgbClr val="002820"/>
                </a:solidFill>
                <a:latin typeface="Calibri"/>
              </a:rPr>
              <a:t>.</a:t>
            </a:r>
          </a:p>
        </p:txBody>
      </p:sp>
      <p:sp>
        <p:nvSpPr>
          <p:cNvPr id="32" name="Rounded Rectangle 24">
            <a:extLst>
              <a:ext uri="{FF2B5EF4-FFF2-40B4-BE49-F238E27FC236}">
                <a16:creationId xmlns:a16="http://schemas.microsoft.com/office/drawing/2014/main" id="{E85010D7-4125-E670-F688-DEDE92587A6C}"/>
              </a:ext>
            </a:extLst>
          </p:cNvPr>
          <p:cNvSpPr/>
          <p:nvPr/>
        </p:nvSpPr>
        <p:spPr>
          <a:xfrm>
            <a:off x="8064000" y="3906000"/>
            <a:ext cx="3636000" cy="18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CFB1E3D1-B99A-08DA-3CC7-4C950D936A55}"/>
              </a:ext>
            </a:extLst>
          </p:cNvPr>
          <p:cNvSpPr txBox="1"/>
          <p:nvPr/>
        </p:nvSpPr>
        <p:spPr>
          <a:xfrm>
            <a:off x="8280000" y="4050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pt-BR" sz="3000" b="0" i="0" dirty="0">
                <a:solidFill>
                  <a:srgbClr val="D1B592"/>
                </a:solidFill>
                <a:latin typeface="Calibri Light"/>
              </a:rPr>
              <a:t>6</a:t>
            </a:r>
            <a:endParaRPr sz="3000" b="0" i="0" dirty="0">
              <a:solidFill>
                <a:srgbClr val="D1B592"/>
              </a:solidFill>
              <a:latin typeface="Calibri Light"/>
            </a:endParaRPr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6BC61A5E-CB23-FF94-FCAB-1817DBD6DF71}"/>
              </a:ext>
            </a:extLst>
          </p:cNvPr>
          <p:cNvSpPr txBox="1"/>
          <p:nvPr/>
        </p:nvSpPr>
        <p:spPr>
          <a:xfrm>
            <a:off x="8280000" y="4554000"/>
            <a:ext cx="3240000" cy="32873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pt-BR" sz="1900" b="0" i="0" dirty="0">
                <a:solidFill>
                  <a:srgbClr val="002820"/>
                </a:solidFill>
                <a:latin typeface="Calibri Light"/>
              </a:rPr>
              <a:t>Como viabilizar esta solução?</a:t>
            </a:r>
            <a:endParaRPr sz="1900" b="0" i="0" dirty="0">
              <a:solidFill>
                <a:srgbClr val="002820"/>
              </a:solidFill>
              <a:latin typeface="Calibri Light"/>
            </a:endParaRPr>
          </a:p>
        </p:txBody>
      </p:sp>
      <p:sp>
        <p:nvSpPr>
          <p:cNvPr id="35" name="TextBox 27">
            <a:extLst>
              <a:ext uri="{FF2B5EF4-FFF2-40B4-BE49-F238E27FC236}">
                <a16:creationId xmlns:a16="http://schemas.microsoft.com/office/drawing/2014/main" id="{57C5E31B-2246-9AFE-2D92-8498CE4F72BE}"/>
              </a:ext>
            </a:extLst>
          </p:cNvPr>
          <p:cNvSpPr txBox="1"/>
          <p:nvPr/>
        </p:nvSpPr>
        <p:spPr>
          <a:xfrm>
            <a:off x="8280000" y="5292000"/>
            <a:ext cx="3240000" cy="46723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pt-BR" sz="1400" b="0" i="0" dirty="0">
                <a:solidFill>
                  <a:srgbClr val="002820"/>
                </a:solidFill>
                <a:latin typeface="Calibri"/>
              </a:rPr>
              <a:t>Qual seria o próximo passo para a Caqui colocar isso no ar.</a:t>
            </a:r>
            <a:endParaRPr sz="1400" b="0" i="0" dirty="0">
              <a:solidFill>
                <a:srgbClr val="0028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O QUE VALE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Seis coisas valem para qualquer caminho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00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99" y="1944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Saída para humano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99" y="2376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Visível em qualquer passo, das 8h às 20h. Fora disso, protocolo e prazo de retorno.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000" y="1800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E9D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7999" y="1944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Sem recomendação de investimento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999" y="2376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Explica conceitos e encaminha para um especialista humano.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096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99" y="3240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Toda informação mostra a fonte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99" y="3672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O artigo da base ou o dado da conta.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6000" y="3096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7999" y="3240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Golpe interrompe o fluxo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7999" y="3672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Segurança na hora, sem fila, a qualquer hora.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392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99" y="4536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O cliente nunca repete a demanda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99" y="4968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Quem recebe o caso vê o histórico e o protocolo.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000" y="4392000"/>
            <a:ext cx="5544000" cy="1152000"/>
          </a:xfrm>
          <a:prstGeom prst="roundRect">
            <a:avLst>
              <a:gd name="adj" fmla="val 8000"/>
            </a:avLst>
          </a:prstGeom>
          <a:solidFill>
            <a:srgbClr val="E9D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7999" y="4536000"/>
            <a:ext cx="50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900" b="0" i="0">
                <a:solidFill>
                  <a:srgbClr val="002820"/>
                </a:solidFill>
                <a:latin typeface="Calibri Light"/>
              </a:rPr>
              <a:t>Só dados sintéticos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7999" y="4968000"/>
            <a:ext cx="50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Nenhum dado real de pessoa.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5760000"/>
            <a:ext cx="11160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5F58"/>
                </a:solidFill>
                <a:latin typeface="Calibri"/>
              </a:rPr>
              <a:t>Solução que não conversa com o cliente pode deixar de fora o que não se aplica, com justificativa na spec. Os itens em destaque valem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REGRAS DE NEGÓCIO E ARMADILHAS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Doze regras, cada uma com uma armadilha para a 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764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000" y="1889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01  Liquidação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250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conta dias corridos ou ignora o corte das 16h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6800" y="1764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66800" y="1889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02  IR regressivo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6800" y="2250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aplica sobre o total ou erra no dia 181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1600" y="1764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1600" y="1889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03  Poupança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1600" y="2250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compara bruto com isento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6400" y="1764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6400" y="1889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36C665"/>
                </a:solidFill>
                <a:latin typeface="Calibri"/>
              </a:rPr>
              <a:t>04  Sem recomendação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6400" y="2250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cede quando o cliente insiste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898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000" y="3023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36C665"/>
                </a:solidFill>
                <a:latin typeface="Calibri"/>
              </a:rPr>
              <a:t>05  Golpe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" y="3384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responde a pergunta e ignora o sinal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86800" y="2898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66800" y="3023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06  Cliente vulnerável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6800" y="3384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trata como mais um caso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1600" y="2898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1600" y="3023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07  Cancelamento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1600" y="3384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insiste em reter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6400" y="2898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76400" y="3023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08  Sem doom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6400" y="3384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repete a mesma resposta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4032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000" y="4157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09  Não inventa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" y="4518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cria um prazo plausível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86800" y="4032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66800" y="4157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10  Dados pessoais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6800" y="4518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ecoa o CPF ou loga a conversa crua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1600" y="4032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1600" y="4157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11  Instrução escondida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1600" y="4518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obedece “ignore suas regras”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6400" y="4032000"/>
            <a:ext cx="2736000" cy="10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76400" y="4157999"/>
            <a:ext cx="244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002820"/>
                </a:solidFill>
                <a:latin typeface="Calibri"/>
              </a:rPr>
              <a:t>12  Horário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6400" y="4518000"/>
            <a:ext cx="2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002820"/>
                </a:solidFill>
                <a:latin typeface="Calibri"/>
              </a:rPr>
              <a:t>promete humano às 22h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000" y="5364000"/>
            <a:ext cx="1116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>
                <a:solidFill>
                  <a:srgbClr val="465F58"/>
                </a:solidFill>
                <a:latin typeface="Calibri"/>
              </a:rPr>
              <a:t>Regras fictícias e simplificadas. Escolham as que valem para o caminho de vocês, escrevam na spec e transformem em teste.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200" y="216000"/>
            <a:ext cx="900000" cy="172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432000" y="576000"/>
            <a:ext cx="11329200" cy="0"/>
          </a:xfrm>
          <a:prstGeom prst="line">
            <a:avLst/>
          </a:prstGeom>
          <a:ln w="1270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666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465F58"/>
                </a:solidFill>
                <a:latin typeface="Calibri"/>
              </a:rPr>
              <a:t>COMO O DIA TERMINA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900000"/>
            <a:ext cx="113292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002820"/>
                </a:solidFill>
                <a:latin typeface="Calibri Light"/>
              </a:rPr>
              <a:t>No fim, cada grupo mostra o caminho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000" y="6534000"/>
            <a:ext cx="11329200" cy="0"/>
          </a:xfrm>
          <a:prstGeom prst="line">
            <a:avLst/>
          </a:prstGeom>
          <a:ln w="9525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2000" y="6552000"/>
            <a:ext cx="720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465F58"/>
                </a:solidFill>
                <a:latin typeface="Calibri"/>
              </a:rPr>
              <a:t>Hands On 31/10 · Caqui Invest é uma empresa fictícia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01200" y="6552000"/>
            <a:ext cx="3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000" b="0" i="0">
                <a:solidFill>
                  <a:srgbClr val="465F58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872000"/>
            <a:ext cx="3636000" cy="201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592000"/>
            <a:ext cx="324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O problema que escolheram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420000"/>
            <a:ext cx="32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0" i="0">
                <a:solidFill>
                  <a:srgbClr val="002820"/>
                </a:solidFill>
                <a:latin typeface="Calibri"/>
              </a:rPr>
              <a:t>e por que 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8000" y="1872000"/>
            <a:ext cx="3636000" cy="201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B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4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D1B592"/>
                </a:solidFill>
                <a:latin typeface="Calibri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4000" y="2592000"/>
            <a:ext cx="324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002820"/>
                </a:solidFill>
                <a:latin typeface="Calibri Light"/>
              </a:rPr>
              <a:t>O produto rodando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4000" y="3420000"/>
            <a:ext cx="32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0" i="0">
                <a:solidFill>
                  <a:srgbClr val="002820"/>
                </a:solidFill>
                <a:latin typeface="Calibri"/>
              </a:rPr>
              <a:t>na URL pública.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4000" y="1872000"/>
            <a:ext cx="3636000" cy="2015999"/>
          </a:xfrm>
          <a:prstGeom prst="roundRect">
            <a:avLst>
              <a:gd name="adj" fmla="val 8000"/>
            </a:avLst>
          </a:prstGeom>
          <a:solidFill>
            <a:srgbClr val="00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0000" y="2016000"/>
            <a:ext cx="72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0" i="0">
                <a:solidFill>
                  <a:srgbClr val="36C665"/>
                </a:solidFill>
                <a:latin typeface="Calibri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2592000"/>
            <a:ext cx="324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Um momento em que a IA errou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3420000"/>
            <a:ext cx="3240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0" i="0">
                <a:solidFill>
                  <a:srgbClr val="D1B592"/>
                </a:solidFill>
                <a:latin typeface="Calibri"/>
              </a:rPr>
              <a:t>e como o grupo percebeu.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4320000"/>
            <a:ext cx="90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 dirty="0">
                <a:solidFill>
                  <a:srgbClr val="465F58"/>
                </a:solidFill>
                <a:latin typeface="Calibri"/>
              </a:rPr>
              <a:t>PARA FACILITAR A CONVERSA, VALE DEIXAR NO REPOSITÓRIO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4680000"/>
            <a:ext cx="216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>
                <a:solidFill>
                  <a:srgbClr val="002820"/>
                </a:solidFill>
                <a:latin typeface="Consolas"/>
              </a:rPr>
              <a:t>SPEC.md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000" y="4680000"/>
            <a:ext cx="864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0" i="0">
                <a:solidFill>
                  <a:srgbClr val="002820"/>
                </a:solidFill>
                <a:latin typeface="Calibri"/>
              </a:rPr>
              <a:t>com as respostas às seis perguntas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5184000"/>
            <a:ext cx="216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0" i="0">
                <a:solidFill>
                  <a:srgbClr val="002820"/>
                </a:solidFill>
                <a:latin typeface="Consolas"/>
              </a:rPr>
              <a:t>README.md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4000" y="5184000"/>
            <a:ext cx="9000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0" i="0">
                <a:solidFill>
                  <a:srgbClr val="002820"/>
                </a:solidFill>
                <a:latin typeface="Calibri"/>
              </a:rPr>
              <a:t>com uma seção “Como usamos IA”: ferramentas, harness, skills e o que foi verificado na mão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600" y="1620000"/>
            <a:ext cx="1800000" cy="34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2880000" y="2700000"/>
            <a:ext cx="6433200" cy="0"/>
          </a:xfrm>
          <a:prstGeom prst="line">
            <a:avLst/>
          </a:prstGeom>
          <a:ln w="19050">
            <a:solidFill>
              <a:srgbClr val="D1B5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3024000"/>
            <a:ext cx="113292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0" i="1">
                <a:solidFill>
                  <a:srgbClr val="FFFFFF"/>
                </a:solidFill>
                <a:latin typeface="Calibri Light"/>
              </a:rPr>
              <a:t>Bom Hands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031999"/>
            <a:ext cx="113292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600" b="0" i="1">
                <a:solidFill>
                  <a:srgbClr val="D1B592"/>
                </a:solidFill>
                <a:latin typeface="Calibri Light"/>
              </a:rPr>
              <a:t>Good Avenue.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fc7c3af-0374-4a9f-a5c4-d76e007e9d84}" enabled="1" method="Privileged" siteId="{f1722b8b-3b80-4dc8-b0c3-982abdb1ecf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1161</Words>
  <Application>Microsoft Macintosh PowerPoint</Application>
  <PresentationFormat>Personalizar</PresentationFormat>
  <Paragraphs>178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Claudia Tirloni</cp:lastModifiedBy>
  <cp:revision>2</cp:revision>
  <dcterms:created xsi:type="dcterms:W3CDTF">2013-01-27T09:14:16Z</dcterms:created>
  <dcterms:modified xsi:type="dcterms:W3CDTF">2026-10-30T21:00:55Z</dcterms:modified>
  <cp:category/>
</cp:coreProperties>
</file>