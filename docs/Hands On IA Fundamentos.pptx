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Boas-vindas. Conversa curta e objetiva: quatro ideias que vocês vão usar o dia inteiro no desafio da Caqui, e depois mão na obra.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ideia apoia a seguinte: o prompt delega pro contexto, a spec é o contexto mais importante de todos, e os guardrails e o QA garantem que o que foi combinado na spec foi cumprido.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Repara que o C, contexto, já aponta pra arquivos: o prompt bom delega o conhecimento pro contexto. No mercado, essas três têm nome: few-shot, chain of thought e ReAct. A última é o jeito que todo agente trabalha: raciocinar, agir com uma ferramenta, observar o resultado, e repetir até a verificação passar.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modelo, mesma frase. O que mudou foi o que estava na janela. Escrever um prompt melhor ajuda pouco; dar o arquivo certo ajuda muito. No dia 180 a alíquota é 22,5%, no 181 é 20%: é exatamente o tipo de borda que o case espera que vocês testem.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Janela de contexto é tudo o que o modelo enxerga de uma vez: as instruções, os arquivos que vocês passaram, a conversa até aqui e a resposta que ele está escrevendo. Ela é medida em tokens, pedaços de palavra, e cada modelo tem um tamanho: tem de 200 mil, de 256 mil, de 1 milhão. Janela grande não é licença pra encher. A qualidade cai bem antes do limite: quanto mais coisa lá dentro, pior ele acha o que importa. O mercado chama isso de context rot. A sessão de vocês vai ser longa: a cada tarefa nova, comecem limpo, com a spec e um resumo do que já foi decidido.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o que eu mais uso no dia a dia, antes de qualquer spec. Em vez de eu escrever o documento e o agente executar, o agente me questiona até a gente ter o mesmo entendimento. Funciona igual pra produto, design e engenharia, e é o melhor jeito de responder as seis perguntas do case em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Produto, design e engenharia no mesmo fluxo. Produto e design entregam a spec, os critérios de aceite e o protótipo. Engenharia consulta a spec antes de inventar regra, e o front consulta o design antes de inventar tela. O checkpoint do meio-dia com o mentor é justamente sobre a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teste existe antes do código. Quando o agente roda e falha, ele tem uma coisa concreta pra corrigir, e não uma opinião. O pacote traz 40 perguntas com a resposta esperada, agrupadas por regra: é matéria-prima pronta pra virar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Guardrail é o que mantém a IA dentro do que o grupo combinou. Esses quatro orientam: o modelo lê e decide seguir, e quase sempre segue. Instrução do projeto curta, porque cada linha disputa atenção com o resto. Skill pra saber que só entra quando precisa, então dá pra ter várias sem ocupar espaço. Contexto isolado porque sessão longa esquece. E dado sensível tratado em camadas: no Hands On, só dado sintético, e o CPF nunca aparece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diferença que mais importa no dia: escrever "nunca grave o CPF no log" no AGENTS.md funciona quase sempre. Um hook que procura CPF antes do commit funciona sempre, porque quem executa é a ferramenta, não o modelo. A Anthropic separa assim: instrução é não determinística, o modelo decide; hook, permissão e teste são determinísticos. Regra do dia: nenhum segredo no repositório. Um hook de pre-commit custa cinco minutos e evita o pior momento do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de 25 segundos antes de soltar os grupos: prompt, janela de contexto, spec e o workflow da spec à verificação. Deixar rodar e emendar direto no mãos à obra.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passo é uma das ideias de agora há pouco. A entrevista é o grilling, o SPEC.md é o SDD, o AGENTS.md, o hook e os testes são os guardrails. O repositório já traz os dados, o modelo do SPEC.md e um script que confere as respostas contra as perguntas de teste. Se for pra lembrar de uma coisa só: spec na frente.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a palavra pros mentores e pra explicação do case. Os mentores tiram dúvida e dão direção, mas não põem a mão no teclado. Lembrar: ferramenta, licença, repositório e deploy são de cada um, e só dado sintético.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02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531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AF6F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>
              <a:latin typeface="Fraunces" charset="0"/>
              <a:ea typeface="Fraunces" charset="0"/>
              <a:cs typeface="Fraunces" charset="0"/>
            </a:endParaRPr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60811"/>
            <a:ext cx="10566400" cy="4084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>
              <a:latin typeface="Inter" charset="0"/>
              <a:ea typeface="Inter" charset="0"/>
              <a:cs typeface="Inter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531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AF6F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>
              <a:latin typeface="Fraunces" charset="0"/>
              <a:ea typeface="Fraunces" charset="0"/>
              <a:cs typeface="Fraunces" charset="0"/>
            </a:endParaRPr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60811"/>
            <a:ext cx="10566400" cy="4084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>
              <a:latin typeface="Inter" charset="0"/>
              <a:ea typeface="Inter" charset="0"/>
              <a:cs typeface="Inter" charset="0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7874000" y="0"/>
            <a:ext cx="4318000" cy="4318000"/>
          </a:xfrm>
          <a:prstGeom prst="rect">
            <a:avLst/>
          </a:prstGeom>
        </p:spPr>
      </p:pic>
      <p:pic>
        <p:nvPicPr>
          <p:cNvPr id="3" name="Image 1" descr="Avenu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711200"/>
            <a:ext cx="1714500" cy="31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231913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D1B5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 ON COM IA · 31 DE OUTUBRO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812800" y="2786459"/>
            <a:ext cx="1016000" cy="12700"/>
          </a:xfrm>
          <a:prstGeom prst="rect">
            <a:avLst/>
          </a:prstGeom>
          <a:solidFill>
            <a:srgbClr val="36C665"/>
          </a:solidFill>
          <a:ln/>
        </p:spPr>
      </p:sp>
      <p:sp>
        <p:nvSpPr>
          <p:cNvPr id="6" name="Shape 2"/>
          <p:cNvSpPr/>
          <p:nvPr/>
        </p:nvSpPr>
        <p:spPr>
          <a:xfrm>
            <a:off x="812800" y="2875359"/>
            <a:ext cx="1016000" cy="25400"/>
          </a:xfrm>
          <a:prstGeom prst="rect">
            <a:avLst/>
          </a:prstGeom>
          <a:solidFill>
            <a:srgbClr val="36C665"/>
          </a:solidFill>
          <a:ln/>
        </p:spPr>
      </p:sp>
      <p:sp>
        <p:nvSpPr>
          <p:cNvPr id="7" name="Text 3"/>
          <p:cNvSpPr/>
          <p:nvPr>
            <p:ph type="title"/>
          </p:nvPr>
        </p:nvSpPr>
        <p:spPr>
          <a:xfrm>
            <a:off x="812800" y="3154759"/>
            <a:ext cx="850265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0" i="0" dirty="0">
                <a:solidFill>
                  <a:srgbClr val="FAF6F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Da concepção à </a:t>
            </a:r>
            <a:r>
              <a:rPr lang="en-US" sz="6000" b="0" i="0" dirty="0">
                <a:solidFill>
                  <a:srgbClr val="36C665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produção</a:t>
            </a:r>
            <a:endParaRPr lang="en-US" sz="6000" dirty="0">
              <a:latin typeface="Fraunces" charset="0"/>
              <a:ea typeface="Fraunces" charset="0"/>
              <a:cs typeface="Fraunces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12800" y="5008959"/>
            <a:ext cx="71945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fundamentos pra trabalhar com IA hoje: prompt, contexto, harness e spec.</a:t>
            </a:r>
            <a:endParaRPr lang="en-US" sz="16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12800" y="58318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Martin Pfeifer · Avenue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F7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CAMINHO DE HOJE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002820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Quatro ideias, cada uma sobre a anterior</a:t>
            </a:r>
            <a:endParaRPr lang="en-US" sz="3600" dirty="0">
              <a:latin typeface="Fraunces" charset="0"/>
              <a:ea typeface="Fraunces" charset="0"/>
              <a:cs typeface="Fraunces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2800" y="2011611"/>
            <a:ext cx="2527300" cy="2217341"/>
          </a:xfrm>
          <a:prstGeom prst="roundRect">
            <a:avLst>
              <a:gd name="adj" fmla="val 4582"/>
            </a:avLst>
          </a:prstGeom>
          <a:solidFill>
            <a:srgbClr val="E9D6BF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240211"/>
            <a:ext cx="213220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A6D4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4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1400" y="2590701"/>
            <a:ext cx="2132203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dirty="0">
                <a:solidFill>
                  <a:srgbClr val="002820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Prompt</a:t>
            </a:r>
            <a:endParaRPr lang="en-US" sz="2200" dirty="0">
              <a:latin typeface="Fraunces" charset="0"/>
              <a:ea typeface="Fraunces" charset="0"/>
              <a:cs typeface="Fraunces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1400" y="2999631"/>
            <a:ext cx="213220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pedir.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492500" y="2011611"/>
            <a:ext cx="2527300" cy="2217341"/>
          </a:xfrm>
          <a:prstGeom prst="roundRect">
            <a:avLst>
              <a:gd name="adj" fmla="val 4582"/>
            </a:avLst>
          </a:prstGeom>
          <a:solidFill>
            <a:srgbClr val="E9D6BF"/>
          </a:solidFill>
          <a:ln/>
        </p:spPr>
      </p:sp>
      <p:sp>
        <p:nvSpPr>
          <p:cNvPr id="9" name="Text 7"/>
          <p:cNvSpPr/>
          <p:nvPr/>
        </p:nvSpPr>
        <p:spPr>
          <a:xfrm>
            <a:off x="3721100" y="2240211"/>
            <a:ext cx="213220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A6D4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4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721100" y="2590701"/>
            <a:ext cx="2132203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dirty="0">
                <a:solidFill>
                  <a:srgbClr val="002820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Contexto</a:t>
            </a:r>
            <a:endParaRPr lang="en-US" sz="2200" dirty="0">
              <a:latin typeface="Fraunces" charset="0"/>
              <a:ea typeface="Fraunces" charset="0"/>
              <a:cs typeface="Fraunces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721100" y="2999631"/>
            <a:ext cx="213220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o modelo sabe quando recebe o pedido.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72200" y="2011611"/>
            <a:ext cx="2527300" cy="2217341"/>
          </a:xfrm>
          <a:prstGeom prst="roundRect">
            <a:avLst>
              <a:gd name="adj" fmla="val 4582"/>
            </a:avLst>
          </a:prstGeom>
          <a:solidFill>
            <a:srgbClr val="E9D6B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240211"/>
            <a:ext cx="213220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A6D4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4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0" y="2590701"/>
            <a:ext cx="2132203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dirty="0">
                <a:solidFill>
                  <a:srgbClr val="002820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SDD</a:t>
            </a:r>
            <a:endParaRPr lang="en-US" sz="2200" dirty="0">
              <a:latin typeface="Fraunces" charset="0"/>
              <a:ea typeface="Fraunces" charset="0"/>
              <a:cs typeface="Fraunces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0" y="2999631"/>
            <a:ext cx="213220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intenção escrita antes do código.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851900" y="2011611"/>
            <a:ext cx="2527300" cy="2217341"/>
          </a:xfrm>
          <a:prstGeom prst="roundRect">
            <a:avLst>
              <a:gd name="adj" fmla="val 4582"/>
            </a:avLst>
          </a:prstGeom>
          <a:solidFill>
            <a:srgbClr val="002820"/>
          </a:solidFill>
          <a:ln/>
        </p:spPr>
      </p:sp>
      <p:sp>
        <p:nvSpPr>
          <p:cNvPr id="17" name="Text 15"/>
          <p:cNvSpPr/>
          <p:nvPr/>
        </p:nvSpPr>
        <p:spPr>
          <a:xfrm>
            <a:off x="9080500" y="2240211"/>
            <a:ext cx="213220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6C66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4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080500" y="2590701"/>
            <a:ext cx="2132203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dirty="0">
                <a:solidFill>
                  <a:srgbClr val="FAF6F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Guardrails e QA</a:t>
            </a:r>
            <a:endParaRPr lang="en-US" sz="2200" dirty="0">
              <a:latin typeface="Fraunces" charset="0"/>
              <a:ea typeface="Fraunces" charset="0"/>
              <a:cs typeface="Fraunces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080500" y="3306961"/>
            <a:ext cx="2132203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mantém a IA no combinado, e como saber quando errou.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12800" y="458455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no fim, mão na obra com a Caqui Invest.</a:t>
            </a:r>
            <a:endParaRPr lang="en-US" sz="15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 On com IA · Avenue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D1B5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ENGINEERING AINDA CONTA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AF6F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Um bom pedido tem quatro partes</a:t>
            </a:r>
            <a:endParaRPr lang="en-US" sz="3600" dirty="0">
              <a:latin typeface="Fraunces" charset="0"/>
              <a:ea typeface="Fraunces" charset="0"/>
              <a:cs typeface="Fraunces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2800" y="1910011"/>
            <a:ext cx="5219700" cy="863550"/>
          </a:xfrm>
          <a:prstGeom prst="roundRect">
            <a:avLst>
              <a:gd name="adj" fmla="val 10295"/>
            </a:avLst>
          </a:prstGeom>
          <a:solidFill>
            <a:srgbClr val="0B3A30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087811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6C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· PERSONA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16000" y="2364631"/>
            <a:ext cx="495769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é o assistente de atendimento da Caqui.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59500" y="1910011"/>
            <a:ext cx="5219700" cy="863550"/>
          </a:xfrm>
          <a:prstGeom prst="roundRect">
            <a:avLst>
              <a:gd name="adj" fmla="val 10295"/>
            </a:avLst>
          </a:prstGeom>
          <a:solidFill>
            <a:srgbClr val="0B3A30"/>
          </a:solidFill>
          <a:ln/>
        </p:spPr>
      </p:sp>
      <p:sp>
        <p:nvSpPr>
          <p:cNvPr id="8" name="Text 6"/>
          <p:cNvSpPr/>
          <p:nvPr/>
        </p:nvSpPr>
        <p:spPr>
          <a:xfrm>
            <a:off x="6362700" y="2087811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6C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· CONTEXTO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62700" y="2364631"/>
            <a:ext cx="50165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Regras em SPEC.md, prazos no KB-006, agora é 18/11 às 10h.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2800" y="2900561"/>
            <a:ext cx="5219700" cy="863550"/>
          </a:xfrm>
          <a:prstGeom prst="roundRect">
            <a:avLst>
              <a:gd name="adj" fmla="val 10295"/>
            </a:avLst>
          </a:prstGeom>
          <a:solidFill>
            <a:srgbClr val="0B3A30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078361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6C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 · TAREFA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6000" y="3355181"/>
            <a:ext cx="495769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Diga quando cai o resgate OP-10001 do cliente C-0007.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59500" y="2900561"/>
            <a:ext cx="5219700" cy="863550"/>
          </a:xfrm>
          <a:prstGeom prst="roundRect">
            <a:avLst>
              <a:gd name="adj" fmla="val 10295"/>
            </a:avLst>
          </a:prstGeom>
          <a:solidFill>
            <a:srgbClr val="0B3A30"/>
          </a:solidFill>
          <a:ln/>
        </p:spPr>
      </p:sp>
      <p:sp>
        <p:nvSpPr>
          <p:cNvPr id="14" name="Text 12"/>
          <p:cNvSpPr/>
          <p:nvPr/>
        </p:nvSpPr>
        <p:spPr>
          <a:xfrm>
            <a:off x="6362700" y="3078361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6C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 · FORMATO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62700" y="3355181"/>
            <a:ext cx="495769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data, a conta e a fonte, em até três linhas.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2800" y="4018111"/>
            <a:ext cx="34882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Mostre exemplos</a:t>
            </a:r>
            <a:endParaRPr lang="en-US" sz="14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12800" y="4269532"/>
            <a:ext cx="34882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dois ou três da resposta que você quer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02634" y="4018111"/>
            <a:ext cx="34882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Peça os passos</a:t>
            </a:r>
            <a:endParaRPr lang="en-US" sz="14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02634" y="4269532"/>
            <a:ext cx="34882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raciocínio antes da conclusão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92517" y="4018111"/>
            <a:ext cx="34882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Deixe ele conferir</a:t>
            </a:r>
            <a:endParaRPr lang="en-US" sz="14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92517" y="4269532"/>
            <a:ext cx="34882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pensa, usa uma ferramenta, olha o resultado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 On com IA · Avenue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F7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E DEPOIS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002820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Contexto vale mais que prompt</a:t>
            </a:r>
            <a:endParaRPr lang="en-US" sz="3600" dirty="0">
              <a:latin typeface="Fraunces" charset="0"/>
              <a:ea typeface="Fraunces" charset="0"/>
              <a:cs typeface="Fraunces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2800" y="1960811"/>
            <a:ext cx="5181600" cy="2696071"/>
          </a:xfrm>
          <a:prstGeom prst="roundRect">
            <a:avLst>
              <a:gd name="adj" fmla="val 3768"/>
            </a:avLst>
          </a:prstGeom>
          <a:solidFill>
            <a:srgbClr val="E9D6BF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214811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6D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SÓ O PEDIDO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66800" y="2555131"/>
            <a:ext cx="481380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282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Calcula o IR do resgate do CDB do Rafael.</a:t>
            </a:r>
            <a:endParaRPr lang="en-US" sz="13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66800" y="2929781"/>
            <a:ext cx="4673600" cy="12700"/>
          </a:xfrm>
          <a:prstGeom prst="rect">
            <a:avLst/>
          </a:prstGeom>
          <a:solidFill>
            <a:srgbClr val="C9B08C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3069481"/>
            <a:ext cx="48138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28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“22,5% sobre o valor resgatado.”</a:t>
            </a:r>
            <a:endParaRPr lang="en-US" sz="14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6800" y="3445371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Errou a faixa e a base.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97600" y="1960811"/>
            <a:ext cx="5181600" cy="2696071"/>
          </a:xfrm>
          <a:prstGeom prst="roundRect">
            <a:avLst>
              <a:gd name="adj" fmla="val 3768"/>
            </a:avLst>
          </a:prstGeom>
          <a:solidFill>
            <a:srgbClr val="002820"/>
          </a:solidFill>
          <a:ln/>
        </p:spPr>
      </p:sp>
      <p:sp>
        <p:nvSpPr>
          <p:cNvPr id="11" name="Text 9"/>
          <p:cNvSpPr/>
          <p:nvPr/>
        </p:nvSpPr>
        <p:spPr>
          <a:xfrm>
            <a:off x="6451600" y="2214811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6C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MESMO PEDIDO, COM CONTEXTO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51600" y="2555131"/>
            <a:ext cx="4813808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BFD0C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+ taxas.json (faixas do IR)</a:t>
            </a:r>
            <a:endParaRPr lang="en-US" sz="1300" dirty="0">
              <a:latin typeface="JetBrains Mono" charset="0"/>
              <a:ea typeface="JetBrains Mono" charset="0"/>
              <a:cs typeface="JetBrains Mono" charset="0"/>
            </a:endParaRPr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BFD0C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+ regra 2: IR só sobre o rendimento</a:t>
            </a:r>
            <a:endParaRPr lang="en-US" sz="1300" dirty="0">
              <a:latin typeface="JetBrains Mono" charset="0"/>
              <a:ea typeface="JetBrains Mono" charset="0"/>
              <a:cs typeface="JetBrains Mono" charset="0"/>
            </a:endParaRPr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BFD0C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+ posicoes.csv do C-0002</a:t>
            </a:r>
            <a:endParaRPr lang="en-US" sz="13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51600" y="3425081"/>
            <a:ext cx="4673600" cy="12700"/>
          </a:xfrm>
          <a:prstGeom prst="rect">
            <a:avLst/>
          </a:prstGeom>
          <a:solidFill>
            <a:srgbClr val="1F5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51600" y="3564781"/>
            <a:ext cx="481380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“181 dias: 20% sobre R$ 810,03 de rendimento, IR de R$ 162,01.”</a:t>
            </a:r>
            <a:endParaRPr lang="en-US" sz="14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51600" y="4189561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6C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Certo, e com a fonte à mostra.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9810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 com os dados sintéticos da Caqui Invest (pergunta de teste PT-06)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2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D1B5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JANELA DE CONTEXTO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AF6F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A memória de trabalho tem tamanho</a:t>
            </a:r>
            <a:endParaRPr lang="en-US" sz="3600" dirty="0">
              <a:latin typeface="Fraunces" charset="0"/>
              <a:ea typeface="Fraunces" charset="0"/>
              <a:cs typeface="Fraunces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910011"/>
            <a:ext cx="1701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 mil tokens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616200" y="1911251"/>
            <a:ext cx="1270000" cy="228600"/>
          </a:xfrm>
          <a:prstGeom prst="roundRect">
            <a:avLst>
              <a:gd name="adj" fmla="val 16667"/>
            </a:avLst>
          </a:prstGeom>
          <a:solidFill>
            <a:srgbClr val="5E7A70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" y="2230041"/>
            <a:ext cx="1701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256 mil tokens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616200" y="2231281"/>
            <a:ext cx="1625600" cy="228600"/>
          </a:xfrm>
          <a:prstGeom prst="roundRect">
            <a:avLst>
              <a:gd name="adj" fmla="val 16667"/>
            </a:avLst>
          </a:prstGeom>
          <a:solidFill>
            <a:srgbClr val="5E7A70"/>
          </a:solidFill>
          <a:ln/>
        </p:spPr>
      </p:sp>
      <p:sp>
        <p:nvSpPr>
          <p:cNvPr id="8" name="Text 6"/>
          <p:cNvSpPr/>
          <p:nvPr/>
        </p:nvSpPr>
        <p:spPr>
          <a:xfrm>
            <a:off x="812800" y="2550071"/>
            <a:ext cx="1701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milhão de tokens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616200" y="2551311"/>
            <a:ext cx="6350000" cy="228600"/>
          </a:xfrm>
          <a:prstGeom prst="roundRect">
            <a:avLst>
              <a:gd name="adj" fmla="val 16667"/>
            </a:avLst>
          </a:prstGeom>
          <a:solidFill>
            <a:srgbClr val="36C665"/>
          </a:solidFill>
          <a:ln/>
        </p:spPr>
      </p:sp>
      <p:sp>
        <p:nvSpPr>
          <p:cNvPr id="10" name="Text 8"/>
          <p:cNvSpPr/>
          <p:nvPr/>
        </p:nvSpPr>
        <p:spPr>
          <a:xfrm>
            <a:off x="812800" y="303520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modelo tem a sua. Tudo entra nela: instruções, arquivos, a conversa e a própria resposta.</a:t>
            </a:r>
            <a:endParaRPr lang="en-US" sz="14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9150" y="3544441"/>
            <a:ext cx="5168900" cy="1503611"/>
          </a:xfrm>
          <a:prstGeom prst="roundRect">
            <a:avLst>
              <a:gd name="adj" fmla="val 6335"/>
            </a:avLst>
          </a:prstGeom>
          <a:noFill/>
          <a:ln w="12700">
            <a:solidFill>
              <a:srgbClr val="5E7A7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028700" y="3728591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F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ENCHE DEMAIS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28700" y="4018111"/>
            <a:ext cx="48922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Esquece a instrução do começo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700" y="4325441"/>
            <a:ext cx="48922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Ignora o arquivo que você passou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8700" y="4632771"/>
            <a:ext cx="48922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Reabre o que já estava decidido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03950" y="3544441"/>
            <a:ext cx="5168900" cy="1503611"/>
          </a:xfrm>
          <a:prstGeom prst="roundRect">
            <a:avLst>
              <a:gd name="adj" fmla="val 6335"/>
            </a:avLst>
          </a:prstGeom>
          <a:solidFill>
            <a:srgbClr val="0B3A30"/>
          </a:solidFill>
          <a:ln w="12700">
            <a:solidFill>
              <a:srgbClr val="36C6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3500" y="3728591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6C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FAZER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13500" y="4018111"/>
            <a:ext cx="48922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conversa nova por tarefa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13500" y="4325441"/>
            <a:ext cx="48922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resumo do que já foi decidido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13500" y="4632771"/>
            <a:ext cx="48922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Apontar o trecho, não o arquivo inteiro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9810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é um pedaço de palavra. Tamanhos comuns hoje: confiram o do modelo que vocês usarem.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D1B5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DA SPEC: GRILLING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AF6F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Deixe a IA te entrevistar primeiro</a:t>
            </a:r>
            <a:endParaRPr lang="en-US" sz="3600" dirty="0">
              <a:latin typeface="Fraunces" charset="0"/>
              <a:ea typeface="Fraunces" charset="0"/>
              <a:cs typeface="Fraunces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2800" y="1910011"/>
            <a:ext cx="6370340" cy="2209602"/>
          </a:xfrm>
          <a:prstGeom prst="roundRect">
            <a:avLst>
              <a:gd name="adj" fmla="val 4598"/>
            </a:avLst>
          </a:prstGeom>
          <a:solidFill>
            <a:srgbClr val="011511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113211"/>
            <a:ext cx="6090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6C66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/grill-me quero um app pra dividir as contas da casa</a:t>
            </a:r>
            <a:endParaRPr lang="en-US" sz="12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1400" y="2415431"/>
            <a:ext cx="6090534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Quem paga na hora, e quem só acerta no fim do mês?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Recomendo: cada um registra o que pagou, e o saldo fecha no dia 30.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1400" y="2983061"/>
            <a:ext cx="6090534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O que acontece quando alguém sai da casa no meio do mês?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Recomendo: o saldo dessa pessoa fecha na data da saída.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1400" y="3550692"/>
            <a:ext cx="609053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F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 até não sobrar pergunta aberta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49840" y="1910011"/>
            <a:ext cx="0" cy="706041"/>
          </a:xfrm>
          <a:prstGeom prst="line">
            <a:avLst/>
          </a:prstGeom>
          <a:noFill/>
          <a:ln w="25400">
            <a:solidFill>
              <a:srgbClr val="36C6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14940" y="1910011"/>
            <a:ext cx="3877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Perguntas numeradas</a:t>
            </a:r>
            <a:endParaRPr lang="en-US" sz="15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14940" y="2189411"/>
            <a:ext cx="387718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uma com a resposta que ele recomenda. Você aceita ou corrige.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449840" y="2768451"/>
            <a:ext cx="0" cy="706041"/>
          </a:xfrm>
          <a:prstGeom prst="line">
            <a:avLst/>
          </a:prstGeom>
          <a:noFill/>
          <a:ln w="25400">
            <a:solidFill>
              <a:srgbClr val="36C6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14940" y="2768451"/>
            <a:ext cx="3877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Acha o buraco cedo</a:t>
            </a:r>
            <a:endParaRPr lang="en-US" sz="15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14940" y="3047851"/>
            <a:ext cx="387718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decisão que viraria retrabalho às 15h aparece às 10h.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49840" y="3626892"/>
            <a:ext cx="0" cy="492720"/>
          </a:xfrm>
          <a:prstGeom prst="line">
            <a:avLst/>
          </a:prstGeom>
          <a:noFill/>
          <a:ln w="25400">
            <a:solidFill>
              <a:srgbClr val="D1B5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14940" y="3626892"/>
            <a:ext cx="3877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 com material</a:t>
            </a:r>
            <a:endParaRPr lang="en-US" sz="15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14940" y="3906292"/>
            <a:ext cx="38771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Glossário e decisões já escritos, prontos pra spec.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9810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grilling e grill-me, da coleção open source de Matt Pocock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F7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FLUXO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002820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Da spec à verificação, e de volta</a:t>
            </a:r>
            <a:endParaRPr lang="en-US" sz="3600" dirty="0">
              <a:latin typeface="Fraunces" charset="0"/>
              <a:ea typeface="Fraunces" charset="0"/>
              <a:cs typeface="Fraunces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2800" y="2011611"/>
            <a:ext cx="1747490" cy="1076871"/>
          </a:xfrm>
          <a:prstGeom prst="roundRect">
            <a:avLst>
              <a:gd name="adj" fmla="val 8255"/>
            </a:avLst>
          </a:prstGeom>
          <a:solidFill>
            <a:srgbClr val="002820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2189411"/>
            <a:ext cx="149349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36C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</a:t>
            </a:r>
            <a:endParaRPr lang="en-US" sz="16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65200" y="2484041"/>
            <a:ext cx="149349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produto, design e engenharia juntos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61890" y="2480171"/>
            <a:ext cx="254000" cy="1397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017490" y="2011611"/>
            <a:ext cx="1747540" cy="1076871"/>
          </a:xfrm>
          <a:prstGeom prst="roundRect">
            <a:avLst>
              <a:gd name="adj" fmla="val 8255"/>
            </a:avLst>
          </a:prstGeom>
          <a:solidFill>
            <a:srgbClr val="E9D6BF"/>
          </a:solidFill>
          <a:ln/>
        </p:spPr>
      </p:sp>
      <p:sp>
        <p:nvSpPr>
          <p:cNvPr id="9" name="Text 6"/>
          <p:cNvSpPr/>
          <p:nvPr/>
        </p:nvSpPr>
        <p:spPr>
          <a:xfrm>
            <a:off x="3169890" y="2189411"/>
            <a:ext cx="149354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0028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</a:t>
            </a:r>
            <a:endParaRPr lang="en-US" sz="16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169890" y="2484041"/>
            <a:ext cx="14935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agente propõe, vocês aprovam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66630" y="2480171"/>
            <a:ext cx="254000" cy="1397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222230" y="2011611"/>
            <a:ext cx="1747490" cy="1076871"/>
          </a:xfrm>
          <a:prstGeom prst="roundRect">
            <a:avLst>
              <a:gd name="adj" fmla="val 8255"/>
            </a:avLst>
          </a:prstGeom>
          <a:solidFill>
            <a:srgbClr val="E9D6BF"/>
          </a:solidFill>
          <a:ln/>
        </p:spPr>
      </p:sp>
      <p:sp>
        <p:nvSpPr>
          <p:cNvPr id="13" name="Text 9"/>
          <p:cNvSpPr/>
          <p:nvPr/>
        </p:nvSpPr>
        <p:spPr>
          <a:xfrm>
            <a:off x="5374630" y="2189411"/>
            <a:ext cx="149349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0028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Tarefas</a:t>
            </a:r>
            <a:endParaRPr lang="en-US" sz="16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374630" y="2484041"/>
            <a:ext cx="149349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pequenas, uma por vez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71320" y="2480171"/>
            <a:ext cx="254000" cy="1397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426920" y="2118271"/>
            <a:ext cx="1747540" cy="863550"/>
          </a:xfrm>
          <a:prstGeom prst="roundRect">
            <a:avLst>
              <a:gd name="adj" fmla="val 10295"/>
            </a:avLst>
          </a:prstGeom>
          <a:solidFill>
            <a:srgbClr val="E9D6BF"/>
          </a:solidFill>
          <a:ln/>
        </p:spPr>
      </p:sp>
      <p:sp>
        <p:nvSpPr>
          <p:cNvPr id="17" name="Text 12"/>
          <p:cNvSpPr/>
          <p:nvPr/>
        </p:nvSpPr>
        <p:spPr>
          <a:xfrm>
            <a:off x="7579320" y="2296071"/>
            <a:ext cx="149354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0028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</a:t>
            </a:r>
            <a:endParaRPr lang="en-US" sz="16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7579320" y="2590701"/>
            <a:ext cx="1493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agente escreve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pic>
        <p:nvPicPr>
          <p:cNvPr id="19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76060" y="2480171"/>
            <a:ext cx="254000" cy="1397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631660" y="2011611"/>
            <a:ext cx="1747540" cy="1076871"/>
          </a:xfrm>
          <a:prstGeom prst="roundRect">
            <a:avLst>
              <a:gd name="adj" fmla="val 8255"/>
            </a:avLst>
          </a:prstGeom>
          <a:solidFill>
            <a:srgbClr val="E9D6BF"/>
          </a:solidFill>
          <a:ln/>
        </p:spPr>
      </p:sp>
      <p:sp>
        <p:nvSpPr>
          <p:cNvPr id="21" name="Text 15"/>
          <p:cNvSpPr/>
          <p:nvPr/>
        </p:nvSpPr>
        <p:spPr>
          <a:xfrm>
            <a:off x="9784060" y="2189411"/>
            <a:ext cx="149354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0028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Verificação</a:t>
            </a:r>
            <a:endParaRPr lang="en-US" sz="16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9784060" y="2484041"/>
            <a:ext cx="14935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e olho humano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819150" y="3272631"/>
            <a:ext cx="10553700" cy="515590"/>
          </a:xfrm>
          <a:prstGeom prst="roundRect">
            <a:avLst>
              <a:gd name="adj" fmla="val 16011"/>
            </a:avLst>
          </a:prstGeom>
          <a:noFill/>
          <a:ln w="12700">
            <a:solidFill>
              <a:srgbClr val="2BA854"/>
            </a:solidFill>
            <a:prstDash val="dash"/>
          </a:ln>
        </p:spPr>
      </p:sp>
      <p:pic>
        <p:nvPicPr>
          <p:cNvPr id="24" name="Image 4" descr="arrow-lef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03300" y="3454202"/>
            <a:ext cx="279400" cy="1524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09700" y="3405981"/>
            <a:ext cx="747063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Decisão tomada no meio do caminho volta pra spec antes de virar código.</a:t>
            </a:r>
            <a:endParaRPr lang="en-US" sz="14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812800" y="415017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spec não é documento pra arquivar: é o contexto que o agente relê a cada tarefa.</a:t>
            </a:r>
            <a:endParaRPr lang="en-US" sz="14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 On com IA · Avenue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F7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 VIRA TESTE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002820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Da frase ao assert</a:t>
            </a:r>
            <a:endParaRPr lang="en-US" sz="3600" dirty="0">
              <a:latin typeface="Fraunces" charset="0"/>
              <a:ea typeface="Fraunces" charset="0"/>
              <a:cs typeface="Fraunces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910011"/>
            <a:ext cx="3183434" cy="716260"/>
          </a:xfrm>
          <a:prstGeom prst="roundRect">
            <a:avLst>
              <a:gd name="adj" fmla="val 10639"/>
            </a:avLst>
          </a:prstGeom>
          <a:solidFill>
            <a:srgbClr val="E9D6BF"/>
          </a:solidFill>
          <a:ln/>
        </p:spPr>
        <p:txBody>
          <a:bodyPr wrap="square" lIns="130082" tIns="104682" rIns="43723" bIns="79282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28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 1: fundo cotiza em D+1 e paga em D+2 úteis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pic>
        <p:nvPicPr>
          <p:cNvPr id="5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23234" y="2198291"/>
            <a:ext cx="254000" cy="139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04234" y="1910011"/>
            <a:ext cx="3183483" cy="716260"/>
          </a:xfrm>
          <a:prstGeom prst="roundRect">
            <a:avLst>
              <a:gd name="adj" fmla="val 10639"/>
            </a:avLst>
          </a:prstGeom>
          <a:solidFill>
            <a:srgbClr val="E9D6BF"/>
          </a:solidFill>
          <a:ln/>
        </p:spPr>
        <p:txBody>
          <a:bodyPr wrap="square" lIns="130082" tIns="104682" rIns="43721" bIns="79282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28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CA-1: depois das 16h, conta do próximo dia útil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pic>
        <p:nvPicPr>
          <p:cNvPr id="7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14717" y="2198291"/>
            <a:ext cx="254000" cy="1397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95717" y="1910011"/>
            <a:ext cx="3183483" cy="716260"/>
          </a:xfrm>
          <a:prstGeom prst="roundRect">
            <a:avLst>
              <a:gd name="adj" fmla="val 10639"/>
            </a:avLst>
          </a:prstGeom>
          <a:solidFill>
            <a:srgbClr val="002820"/>
          </a:solidFill>
          <a:ln/>
        </p:spPr>
        <p:txBody>
          <a:bodyPr wrap="square" lIns="130082" tIns="104682" rIns="43721" bIns="79282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caso de borda, escrito antes do código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812800" y="2880271"/>
            <a:ext cx="10566400" cy="1749822"/>
          </a:xfrm>
          <a:prstGeom prst="roundRect">
            <a:avLst>
              <a:gd name="adj" fmla="val 5806"/>
            </a:avLst>
          </a:prstGeom>
          <a:solidFill>
            <a:srgbClr val="011511"/>
          </a:solidFill>
          <a:ln/>
        </p:spPr>
      </p:sp>
      <p:sp>
        <p:nvSpPr>
          <p:cNvPr id="10" name="Text 6"/>
          <p:cNvSpPr/>
          <p:nvPr/>
        </p:nvSpPr>
        <p:spPr>
          <a:xfrm>
            <a:off x="1066800" y="3083471"/>
            <a:ext cx="103601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6C66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test_resgate_fundo_sexta_depois_do_corte():</a:t>
            </a:r>
            <a:endParaRPr lang="en-US" sz="12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066800" y="3309491"/>
            <a:ext cx="103601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AF6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pedido = datetime(2026, 10, 30, 17, 0)  </a:t>
            </a:r>
            <a:r>
              <a:rPr lang="en-US" sz="1200" dirty="0">
                <a:solidFill>
                  <a:srgbClr val="8FA8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sexta, 17h</a:t>
            </a:r>
            <a:endParaRPr lang="en-US" sz="12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066800" y="3535511"/>
            <a:ext cx="103601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AF6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 = prazo_resgate("FUNDO-RF-01", pedido)</a:t>
            </a:r>
            <a:endParaRPr lang="en-US" sz="12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066800" y="3761532"/>
            <a:ext cx="103601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AF6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assert p.dia_base == date(2026, 11, 3)  </a:t>
            </a:r>
            <a:r>
              <a:rPr lang="en-US" sz="1200" dirty="0">
                <a:solidFill>
                  <a:srgbClr val="8FA8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02/11 é feriado</a:t>
            </a:r>
            <a:endParaRPr lang="en-US" sz="12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066800" y="3987552"/>
            <a:ext cx="103601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AF6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assert p.cotizacao == date(2026, 11, 4)</a:t>
            </a:r>
            <a:endParaRPr lang="en-US" sz="12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066800" y="4213572"/>
            <a:ext cx="103601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AF6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assert p.pagamento == date(2026, 11, 5)</a:t>
            </a:r>
            <a:endParaRPr lang="en-US" sz="12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12800" y="6238280"/>
            <a:ext cx="9810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Mesmo caso da pergunta de teste PT-01 do pacote de dados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F7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 · OS QUE ORIENTAM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002820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Mantêm a IA dentro do combinado</a:t>
            </a:r>
            <a:endParaRPr lang="en-US" sz="3600" dirty="0">
              <a:latin typeface="Fraunces" charset="0"/>
              <a:ea typeface="Fraunces" charset="0"/>
              <a:cs typeface="Fraunces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78301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modelo lê e, quase sempre, segue. Quase sempre não é sempre.</a:t>
            </a:r>
            <a:endParaRPr lang="en-US" sz="14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2800" y="2285901"/>
            <a:ext cx="5219700" cy="1147415"/>
          </a:xfrm>
          <a:prstGeom prst="roundRect">
            <a:avLst>
              <a:gd name="adj" fmla="val 7748"/>
            </a:avLst>
          </a:prstGeom>
          <a:solidFill>
            <a:srgbClr val="E9D6BF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485926"/>
            <a:ext cx="2489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6D4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3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41140" y="2463701"/>
            <a:ext cx="247923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0028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Instruções do projeto</a:t>
            </a:r>
            <a:endParaRPr lang="en-US" sz="16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6000" y="2793256"/>
            <a:ext cx="495769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AGENTS.md ou rules, lidas em toda sessão. Teste de cada linha: se tirar, o agente erra? Se não, corta.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59500" y="2285901"/>
            <a:ext cx="5219700" cy="1147415"/>
          </a:xfrm>
          <a:prstGeom prst="roundRect">
            <a:avLst>
              <a:gd name="adj" fmla="val 7748"/>
            </a:avLst>
          </a:prstGeom>
          <a:solidFill>
            <a:srgbClr val="E9D6BF"/>
          </a:solidFill>
          <a:ln/>
        </p:spPr>
      </p:sp>
      <p:sp>
        <p:nvSpPr>
          <p:cNvPr id="10" name="Text 8"/>
          <p:cNvSpPr/>
          <p:nvPr/>
        </p:nvSpPr>
        <p:spPr>
          <a:xfrm>
            <a:off x="6362700" y="2485926"/>
            <a:ext cx="2489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6D4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3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687840" y="2463701"/>
            <a:ext cx="60948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0028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</a:t>
            </a:r>
            <a:endParaRPr lang="en-US" sz="16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62700" y="2793256"/>
            <a:ext cx="495769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Passos prontos, carregados só quando o pedido combina. Um saber do case, uma skill.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2800" y="3560316"/>
            <a:ext cx="5219700" cy="1147415"/>
          </a:xfrm>
          <a:prstGeom prst="roundRect">
            <a:avLst>
              <a:gd name="adj" fmla="val 7748"/>
            </a:avLst>
          </a:prstGeom>
          <a:solidFill>
            <a:srgbClr val="E9D6BF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3760341"/>
            <a:ext cx="2489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6D4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3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41140" y="3738116"/>
            <a:ext cx="196244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0028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isolado</a:t>
            </a:r>
            <a:endParaRPr lang="en-US" sz="16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16000" y="4067671"/>
            <a:ext cx="495769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tarefa começa limpa. O que importa mora em arquivo: SPEC.md e o progresso do dia.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59500" y="3560316"/>
            <a:ext cx="5219700" cy="1147415"/>
          </a:xfrm>
          <a:prstGeom prst="roundRect">
            <a:avLst>
              <a:gd name="adj" fmla="val 7748"/>
            </a:avLst>
          </a:prstGeom>
          <a:solidFill>
            <a:srgbClr val="E9D6BF"/>
          </a:solidFill>
          <a:ln/>
        </p:spPr>
      </p:sp>
      <p:sp>
        <p:nvSpPr>
          <p:cNvPr id="18" name="Text 16"/>
          <p:cNvSpPr/>
          <p:nvPr/>
        </p:nvSpPr>
        <p:spPr>
          <a:xfrm>
            <a:off x="6362700" y="3760341"/>
            <a:ext cx="2489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6D4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3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87840" y="3738116"/>
            <a:ext cx="189428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0028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sensíveis</a:t>
            </a:r>
            <a:endParaRPr lang="en-US" sz="16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62700" y="4067671"/>
            <a:ext cx="495769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Só dado sintético. CPF mascarado em tela e em log. Nenhuma conexão aponta pra dado real.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9810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AGENTS.md, CLAUDE.md, rules: o nome muda com a ferramenta, a ideia é a mesma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D1B5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 · OS QUE GARANTEM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AF6F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Travas que valem toda vez</a:t>
            </a:r>
            <a:endParaRPr lang="en-US" sz="3600" dirty="0">
              <a:latin typeface="Fraunces" charset="0"/>
              <a:ea typeface="Fraunces" charset="0"/>
              <a:cs typeface="Fraunces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78301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Instrução é pedido: o modelo decide. Trava é configuração: a ferramenta executa.</a:t>
            </a:r>
            <a:endParaRPr lang="en-US" sz="14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2800" y="2285901"/>
            <a:ext cx="5219700" cy="1147415"/>
          </a:xfrm>
          <a:prstGeom prst="roundRect">
            <a:avLst>
              <a:gd name="adj" fmla="val 7748"/>
            </a:avLst>
          </a:prstGeom>
          <a:solidFill>
            <a:srgbClr val="0B3A30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485926"/>
            <a:ext cx="2489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6C66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3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41140" y="2463701"/>
            <a:ext cx="74390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Hooks</a:t>
            </a:r>
            <a:endParaRPr lang="en-US" sz="16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6000" y="2793256"/>
            <a:ext cx="495769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Rodam por evento, fora do modelo. Antes do commit: CPF sem máscara ou chave de API? Bloqueia.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59500" y="2285901"/>
            <a:ext cx="5219700" cy="1147415"/>
          </a:xfrm>
          <a:prstGeom prst="roundRect">
            <a:avLst>
              <a:gd name="adj" fmla="val 7748"/>
            </a:avLst>
          </a:prstGeom>
          <a:solidFill>
            <a:srgbClr val="0B3A30"/>
          </a:solidFill>
          <a:ln/>
        </p:spPr>
      </p:sp>
      <p:sp>
        <p:nvSpPr>
          <p:cNvPr id="10" name="Text 8"/>
          <p:cNvSpPr/>
          <p:nvPr/>
        </p:nvSpPr>
        <p:spPr>
          <a:xfrm>
            <a:off x="6362700" y="2485926"/>
            <a:ext cx="2489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6C66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3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687840" y="2463701"/>
            <a:ext cx="135808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Permissões</a:t>
            </a:r>
            <a:endParaRPr lang="en-US" sz="16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62700" y="2793256"/>
            <a:ext cx="495769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pasta é a fronteira. Só leitura onde não precisa escrever, e comando de risco pede aprovação.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2800" y="3560316"/>
            <a:ext cx="5219700" cy="1147415"/>
          </a:xfrm>
          <a:prstGeom prst="roundRect">
            <a:avLst>
              <a:gd name="adj" fmla="val 7748"/>
            </a:avLst>
          </a:prstGeom>
          <a:solidFill>
            <a:srgbClr val="0B3A30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3760341"/>
            <a:ext cx="2489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6C66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3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41140" y="3738116"/>
            <a:ext cx="292304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que o agente roda</a:t>
            </a:r>
            <a:endParaRPr lang="en-US" sz="16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16000" y="4067671"/>
            <a:ext cx="495769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que respondem passa ou falha. Ele termina quando passa, não quando parece pronto.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59500" y="3560316"/>
            <a:ext cx="5219700" cy="1147415"/>
          </a:xfrm>
          <a:prstGeom prst="roundRect">
            <a:avLst>
              <a:gd name="adj" fmla="val 7748"/>
            </a:avLst>
          </a:prstGeom>
          <a:solidFill>
            <a:srgbClr val="0B3A30"/>
          </a:solidFill>
          <a:ln/>
        </p:spPr>
      </p:sp>
      <p:sp>
        <p:nvSpPr>
          <p:cNvPr id="18" name="Text 16"/>
          <p:cNvSpPr/>
          <p:nvPr/>
        </p:nvSpPr>
        <p:spPr>
          <a:xfrm>
            <a:off x="6362700" y="3760341"/>
            <a:ext cx="2489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6C66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3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87840" y="3738116"/>
            <a:ext cx="228272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Revisor sem caneta</a:t>
            </a:r>
            <a:endParaRPr lang="en-US" sz="16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62700" y="4067671"/>
            <a:ext cx="495769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segundo agente que só lê, com a janela limpa, compara o que foi feito com a spec.</a:t>
            </a:r>
            <a:endParaRPr lang="en-US" sz="13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9810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 que não pode ter exceção vira trava, não frase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ap animado: prompt, janela de contexto, spec e workflow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D1B5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AGORA É COM VOCÊS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AF6F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Do repositório à URL pública</a:t>
            </a:r>
            <a:endParaRPr lang="en-US" sz="3600" dirty="0">
              <a:latin typeface="Fraunces" charset="0"/>
              <a:ea typeface="Fraunces" charset="0"/>
              <a:cs typeface="Fraunces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989386"/>
            <a:ext cx="431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6C66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97000" y="1960811"/>
            <a:ext cx="3662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Criem o repositório do grupo</a:t>
            </a:r>
            <a:endParaRPr lang="en-US" sz="16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56200" y="1989386"/>
            <a:ext cx="356651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"Use this template" no caqui-invest</a:t>
            </a:r>
            <a:endParaRPr lang="en-US" sz="14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12800" y="2413546"/>
            <a:ext cx="431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6C66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4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97000" y="2384971"/>
            <a:ext cx="3662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Deixem a IA entrevistar o grupo</a:t>
            </a:r>
            <a:endParaRPr lang="en-US" sz="16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56200" y="2413546"/>
            <a:ext cx="454277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parte do problema, pra quem, e por quê</a:t>
            </a:r>
            <a:endParaRPr lang="en-US" sz="14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12800" y="2837706"/>
            <a:ext cx="431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6C66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4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97000" y="2809131"/>
            <a:ext cx="3662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Escrevam o SPEC.md</a:t>
            </a:r>
            <a:endParaRPr lang="en-US" sz="16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56200" y="2837706"/>
            <a:ext cx="448716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seis perguntas, antes de qualquer código</a:t>
            </a:r>
            <a:endParaRPr lang="en-US" sz="14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2800" y="3261866"/>
            <a:ext cx="431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6C66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4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97000" y="3233291"/>
            <a:ext cx="3662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Montem os guardrails</a:t>
            </a:r>
            <a:endParaRPr lang="en-US" sz="16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56200" y="3261866"/>
            <a:ext cx="543901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AGENTS.md curto, um hook, e as regras virando teste</a:t>
            </a:r>
            <a:endParaRPr lang="en-US" sz="14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2800" y="3686026"/>
            <a:ext cx="431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6C66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400" dirty="0">
              <a:latin typeface="JetBrains Mono" charset="0"/>
              <a:ea typeface="JetBrains Mono" charset="0"/>
              <a:cs typeface="JetBrains Mono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97000" y="3657451"/>
            <a:ext cx="3662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A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Publiquem e mostrem</a:t>
            </a:r>
            <a:endParaRPr lang="en-US" sz="16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56200" y="3686026"/>
            <a:ext cx="461914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URL no ar e um momento em que a IA errou</a:t>
            </a:r>
            <a:endParaRPr lang="en-US" sz="14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9810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Nenhum segredo no repositório · só dado sintético · não é competição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15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3000" y="254000"/>
            <a:ext cx="4699000" cy="4699000"/>
          </a:xfrm>
          <a:prstGeom prst="rect">
            <a:avLst/>
          </a:prstGeom>
        </p:spPr>
      </p:pic>
      <p:pic>
        <p:nvPicPr>
          <p:cNvPr id="3" name="Image 1" descr="Avenu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711200"/>
            <a:ext cx="762000" cy="406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402342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D1B5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CAQUI INVEST ESPERA POR VOCÊS</a:t>
            </a:r>
            <a:endParaRPr lang="en-US" sz="1200" dirty="0"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812800" y="4439940"/>
            <a:ext cx="1016000" cy="12700"/>
          </a:xfrm>
          <a:prstGeom prst="rect">
            <a:avLst/>
          </a:prstGeom>
          <a:solidFill>
            <a:srgbClr val="36C665"/>
          </a:solidFill>
          <a:ln/>
        </p:spPr>
      </p:sp>
      <p:sp>
        <p:nvSpPr>
          <p:cNvPr id="6" name="Shape 2"/>
          <p:cNvSpPr/>
          <p:nvPr/>
        </p:nvSpPr>
        <p:spPr>
          <a:xfrm>
            <a:off x="812800" y="4528840"/>
            <a:ext cx="1016000" cy="25400"/>
          </a:xfrm>
          <a:prstGeom prst="rect">
            <a:avLst/>
          </a:prstGeom>
          <a:solidFill>
            <a:srgbClr val="36C665"/>
          </a:solidFill>
          <a:ln/>
        </p:spPr>
      </p:sp>
      <p:sp>
        <p:nvSpPr>
          <p:cNvPr id="7" name="Text 3"/>
          <p:cNvSpPr/>
          <p:nvPr>
            <p:ph type="title"/>
          </p:nvPr>
        </p:nvSpPr>
        <p:spPr>
          <a:xfrm>
            <a:off x="812800" y="4757440"/>
            <a:ext cx="71945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0" i="0" dirty="0">
                <a:solidFill>
                  <a:srgbClr val="FAF6F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Mãos à </a:t>
            </a:r>
            <a:r>
              <a:rPr lang="en-US" sz="6000" b="0" i="0" dirty="0">
                <a:solidFill>
                  <a:srgbClr val="36C665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obra</a:t>
            </a:r>
            <a:endParaRPr lang="en-US" sz="6000" dirty="0">
              <a:latin typeface="Fraunces" charset="0"/>
              <a:ea typeface="Fraunces" charset="0"/>
              <a:cs typeface="Fraunces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12800" y="5760740"/>
            <a:ext cx="65405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FD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spec primeiro. O resto, a gente descobre junto.</a:t>
            </a:r>
            <a:endParaRPr lang="en-US" sz="1600" dirty="0">
              <a:latin typeface="Inter" charset="0"/>
              <a:ea typeface="Inter" charset="0"/>
              <a:cs typeface="Inter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nds On IA: Fundamentos">
  <a:themeElements>
    <a:clrScheme name="Hands On IA: Fundamentos">
      <a:dk1>
        <a:srgbClr val="002820"/>
      </a:dk1>
      <a:lt1>
        <a:srgbClr val="FAF6F2"/>
      </a:lt1>
      <a:dk2>
        <a:srgbClr val="193D35"/>
      </a:dk2>
      <a:lt2>
        <a:srgbClr val="BCC3BE"/>
      </a:lt2>
      <a:accent1>
        <a:srgbClr val="36C665"/>
      </a:accent1>
      <a:accent2>
        <a:srgbClr val="E9D6BF"/>
      </a:accent2>
      <a:accent3>
        <a:srgbClr val="8A6D45"/>
      </a:accent3>
      <a:accent4>
        <a:srgbClr val="D1B592"/>
      </a:accent4>
      <a:accent5>
        <a:srgbClr val="1F7A40"/>
      </a:accent5>
      <a:accent6>
        <a:srgbClr val="C9B08C"/>
      </a:accent6>
      <a:hlink>
        <a:srgbClr val="0563C1"/>
      </a:hlink>
      <a:folHlink>
        <a:srgbClr val="954F72"/>
      </a:folHlink>
    </a:clrScheme>
    <a:fontScheme name="Hands On IA: Fundamentos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Hands On IA: Fundamentos</dc:title>
  <dc:subject/>
  <dc:creator/>
  <cp:lastModifiedBy/>
  <cp:revision>1</cp:revision>
  <dcterms:created xsi:type="dcterms:W3CDTF">2026-10-31T14:01:28Z</dcterms:created>
  <dcterms:modified xsi:type="dcterms:W3CDTF">2026-10-31T14:01:28Z</dcterms:modified>
</cp:coreProperties>
</file>